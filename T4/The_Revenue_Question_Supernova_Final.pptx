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6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18"/>
    <p:sldId id="258" r:id="rId15"/>
    <p:sldId id="259" r:id="rId75"/>
    <p:sldId id="260" r:id="rId27"/>
    <p:sldId id="261" r:id="rId76"/>
    <p:sldId id="262" r:id="rId26"/>
    <p:sldId id="263" r:id="rId32"/>
  </p:sldIdLst>
  <p:sldSz cy="5143500" cx="9144000"/>
  <p:notesSz cx="6858000" cy="9144000"/>
  <p:embeddedFontLst>
    <p:embeddedFont>
      <p:font typeface="Inter SemiBold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Inter ExtraBold"/>
      <p:bold r:id="rId64"/>
      <p:boldItalic r:id="rId65"/>
    </p:embeddedFont>
    <p:embeddedFont>
      <p:font typeface="Roboto Mono"/>
      <p:regular r:id="rId66"/>
      <p:bold r:id="rId67"/>
      <p:italic r:id="rId68"/>
      <p:boldItalic r:id="rId69"/>
    </p:embeddedFont>
    <p:embeddedFont>
      <p:font typeface="Inter Medium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44">
          <p15:clr>
            <a:srgbClr val="747775"/>
          </p15:clr>
        </p15:guide>
        <p15:guide id="2" orient="horz" pos="144">
          <p15:clr>
            <a:srgbClr val="747775"/>
          </p15:clr>
        </p15:guide>
        <p15:guide id="3" pos="5616">
          <p15:clr>
            <a:srgbClr val="747775"/>
          </p15:clr>
        </p15:guide>
        <p15:guide id="4" orient="horz" pos="3096">
          <p15:clr>
            <a:srgbClr val="747775"/>
          </p15:clr>
        </p15:guide>
        <p15:guide id="5" orient="horz" pos="402">
          <p15:clr>
            <a:srgbClr val="747775"/>
          </p15:clr>
        </p15:guide>
      </p15:sldGuideLst>
    </p:ext>
    <p:ext uri="GoogleSlidesCustomDataVersion2">
      <go:slidesCustomData xmlns:go="http://customooxmlschemas.google.com/" r:id="rId74" roundtripDataSignature="AMtx7mi49FvC5AUKj7JM3vWx0pKqdEY4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8447AF-9794-4F64-8DFB-993786FBB0DD}">
  <a:tblStyle styleId="{E68447AF-9794-4F64-8DFB-993786FBB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"/>
        <p:guide pos="144" orient="horz"/>
        <p:guide pos="5616"/>
        <p:guide pos="3096" orient="horz"/>
        <p:guide pos="402" orient="horz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73" Type="http://schemas.openxmlformats.org/officeDocument/2006/relationships/font" Target="fonts/InterMedium-boldItalic.fntdata"/><Relationship Id="rId72" Type="http://schemas.openxmlformats.org/officeDocument/2006/relationships/font" Target="fonts/InterMedium-italic.fntdata"/><Relationship Id="rId74" Type="http://customschemas.google.com/relationships/presentationmetadata" Target="metadata"/><Relationship Id="rId32" Type="http://schemas.openxmlformats.org/officeDocument/2006/relationships/slide" Target="slides/slide26.xml"/><Relationship Id="rId71" Type="http://schemas.openxmlformats.org/officeDocument/2006/relationships/font" Target="fonts/InterMedium-bold.fntdata"/><Relationship Id="rId70" Type="http://schemas.openxmlformats.org/officeDocument/2006/relationships/font" Target="fonts/InterMedium-regular.fntdata"/><Relationship Id="rId62" Type="http://schemas.openxmlformats.org/officeDocument/2006/relationships/font" Target="fonts/Inter-italic.fntdata"/><Relationship Id="rId61" Type="http://schemas.openxmlformats.org/officeDocument/2006/relationships/font" Target="fonts/Inter-bold.fntdata"/><Relationship Id="rId64" Type="http://schemas.openxmlformats.org/officeDocument/2006/relationships/font" Target="fonts/InterExtraBold-bold.fntdata"/><Relationship Id="rId63" Type="http://schemas.openxmlformats.org/officeDocument/2006/relationships/font" Target="fonts/Inter-boldItalic.fntdata"/><Relationship Id="rId66" Type="http://schemas.openxmlformats.org/officeDocument/2006/relationships/font" Target="fonts/RobotoMono-regular.fntdata"/><Relationship Id="rId65" Type="http://schemas.openxmlformats.org/officeDocument/2006/relationships/font" Target="fonts/InterExtraBold-boldItalic.fntdata"/><Relationship Id="rId68" Type="http://schemas.openxmlformats.org/officeDocument/2006/relationships/font" Target="fonts/RobotoMono-italic.fntdata"/><Relationship Id="rId67" Type="http://schemas.openxmlformats.org/officeDocument/2006/relationships/font" Target="fonts/RobotoMono-bold.fntdata"/><Relationship Id="rId60" Type="http://schemas.openxmlformats.org/officeDocument/2006/relationships/font" Target="fonts/Inter-regular.fntdata"/><Relationship Id="rId26" Type="http://schemas.openxmlformats.org/officeDocument/2006/relationships/slide" Target="slides/slide20.xml"/><Relationship Id="rId69" Type="http://schemas.openxmlformats.org/officeDocument/2006/relationships/font" Target="fonts/RobotoMono-boldItalic.fntdata"/><Relationship Id="rId27" Type="http://schemas.openxmlformats.org/officeDocument/2006/relationships/slide" Target="slides/slide21.xml"/><Relationship Id="rId57" Type="http://schemas.openxmlformats.org/officeDocument/2006/relationships/font" Target="fonts/InterSemiBold-bold.fntdata"/><Relationship Id="rId56" Type="http://schemas.openxmlformats.org/officeDocument/2006/relationships/font" Target="fonts/Inter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InterSemiBold-boldItalic.fntdata"/><Relationship Id="rId58" Type="http://schemas.openxmlformats.org/officeDocument/2006/relationships/font" Target="fonts/InterSemiBold-italic.fntdata"/><Relationship Id="rId18" Type="http://schemas.openxmlformats.org/officeDocument/2006/relationships/slide" Target="slides/slide12.xml"/><Relationship Id="rId75" Type="http://schemas.openxmlformats.org/officeDocument/2006/relationships/slide" Target="slides/slide50.xml"/><Relationship Id="rId76" Type="http://schemas.openxmlformats.org/officeDocument/2006/relationships/slide" Target="slides/slide5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chart_dropoff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4" Type="http://schemas.openxmlformats.org/officeDocument/2006/relationships/image" Target="../media/chart_value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64008" y="638300"/>
            <a:ext cx="85206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Revenue Question</a:t>
            </a:r>
            <a:endParaRPr b="0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Where Supernova loses 1 in 3 quotes before anyone sees a price</a:t>
            </a:r>
            <a:endParaRPr b="0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 txBox="1"/>
          <p:nvPr>
            <p:ph idx="1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Veniamin Davydenko  ·  Supernova BIA Externship  ·  June 2026</a:t>
            </a:r>
            <a:endParaRPr b="0" i="0" sz="1200" u="none" cap="none" strike="noStrike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One question does the most damage</a:t>
            </a:r>
            <a:endParaRPr b="0" i="0" sz="32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783080"/>
            <a:ext cx="8229600" cy="284348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</p:spPr>
      </p:pic>
      <p:sp>
        <p:nvSpPr>
          <p:cNvPr id="124" name="Google Shape;124;p9"/>
          <p:cNvSpPr txBox="1"/>
          <p:nvPr/>
        </p:nvSpPr>
        <p:spPr>
          <a:xfrm>
            <a:off x="274320" y="1216152"/>
            <a:ext cx="85953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Inter"/>
                <a:ea typeface="Inter"/>
                <a:cs typeface="Inter"/>
                <a:sym typeface="Inter"/>
              </a:rPr>
              <a:t xml:space="preserve"> Annual Revenue (Stage 2) is the single biggest leak in the funnel.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do 1 in 3 applicants quit before they see a price?</a:t>
            </a:r>
            <a:endParaRPr b="0" i="0" sz="32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228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rgbClr val="FF8F6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9,817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Insurance quote attempts in the dataset</a:t>
            </a:r>
          </a:p>
        </p:txBody>
      </p:sp>
      <p:sp>
        <p:nvSpPr>
          <p:cNvPr id="149" name="Google Shape;149;p12"/>
          <p:cNvSpPr/>
          <p:nvPr/>
        </p:nvSpPr>
        <p:spPr>
          <a:xfrm>
            <a:off x="31821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rgbClr val="FF8F6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67%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Reach a final price (6,578 quotes complete)</a:t>
            </a:r>
          </a:p>
        </p:txBody>
      </p:sp>
      <p:sp>
        <p:nvSpPr>
          <p:cNvPr id="150" name="Google Shape;150;p12"/>
          <p:cNvSpPr/>
          <p:nvPr/>
        </p:nvSpPr>
        <p:spPr>
          <a:xfrm>
            <a:off x="6135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rgbClr val="FF8F6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3,239</a:t>
            </a: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Abandon the quote before pricing — 33% of all traffic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BD8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228600" y="1952425"/>
            <a:ext cx="2724900" cy="29625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274300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Split the revenue question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Add a quick eligibility gate up front; keep the detailed revenue where rating needs it.</a:t>
            </a:r>
          </a:p>
        </p:txBody>
      </p:sp>
      <p:sp>
        <p:nvSpPr>
          <p:cNvPr id="220" name="Google Shape;220;p20"/>
          <p:cNvSpPr/>
          <p:nvPr/>
        </p:nvSpPr>
        <p:spPr>
          <a:xfrm>
            <a:off x="3209550" y="1952425"/>
            <a:ext cx="2724900" cy="29625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274300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Fix the address lookup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Require a verified address (Place ID) at Stage 1 so pricing always runs.</a:t>
            </a:r>
          </a:p>
        </p:txBody>
      </p:sp>
      <p:sp>
        <p:nvSpPr>
          <p:cNvPr id="221" name="Google Shape;221;p20"/>
          <p:cNvSpPr/>
          <p:nvPr/>
        </p:nvSpPr>
        <p:spPr>
          <a:xfrm>
            <a:off x="6190500" y="1952425"/>
            <a:ext cx="2724900" cy="29625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274300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Re-test and measure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A/B the new flow; track completion and priced-quote rates before rollout.</a:t>
            </a:r>
          </a:p>
        </p:txBody>
      </p:sp>
      <p:pic>
        <p:nvPicPr>
          <p:cNvPr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Three moves to recover the leak</a:t>
            </a:r>
            <a:endParaRPr b="0" i="0" sz="32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24" name="Google Shape;224;p20" title="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950" y="2162375"/>
            <a:ext cx="239100" cy="61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title="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2825" y="2153398"/>
            <a:ext cx="499665" cy="61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title="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50" y="2171350"/>
            <a:ext cx="499675" cy="597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>
            <p:ph type="ctrTitle"/>
          </p:nvPr>
        </p:nvSpPr>
        <p:spPr>
          <a:xfrm>
            <a:off x="240850" y="430000"/>
            <a:ext cx="4079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Even finishing isn’t safety</a:t>
            </a:r>
          </a:p>
        </p:txBody>
      </p:sp>
      <p:sp>
        <p:nvSpPr>
          <p:cNvPr id="233" name="Google Shape;233;p21"/>
          <p:cNvSpPr/>
          <p:nvPr/>
        </p:nvSpPr>
        <p:spPr>
          <a:xfrm>
            <a:off x="4510800" y="245700"/>
            <a:ext cx="4633200" cy="4897800"/>
          </a:xfrm>
          <a:prstGeom prst="snipRoundRect">
            <a:avLst>
              <a:gd fmla="val 6286" name="adj1"/>
              <a:gd fmla="val 0" name="adj2"/>
            </a:avLst>
          </a:prstGeom>
          <a:solidFill>
            <a:srgbClr val="FF8F60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cause</a:t>
            </a:r>
          </a:p>
        </p:txBody>
      </p:sp>
      <p:sp>
        <p:nvSpPr>
          <p:cNvPr id="234" name="Google Shape;234;p21"/>
          <p:cNvSpPr txBox="1"/>
          <p:nvPr/>
        </p:nvSpPr>
        <p:spPr>
          <a:xfrm>
            <a:off x="240850" y="1417320"/>
            <a:ext cx="398520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About 1,000 completed quotes generate $0 premium — an estimated $10.4M in pipeline that finishes the form but is never priced.</a:t>
            </a:r>
            <a:endParaRPr b="0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34800" y="1417320"/>
            <a:ext cx="398520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Most have no verified address or map link — an address-lookup failure. The form completes, but pricing never runs. It is not an underwriting decline.</a:t>
            </a:r>
            <a:endParaRPr b="0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type="ctrTitle"/>
          </p:nvPr>
        </p:nvSpPr>
        <p:spPr>
          <a:xfrm>
            <a:off x="311688" y="1913950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" sz="48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Veniamin Davydenko  ·  Supernova BIA Externship</a:t>
            </a:r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revenue question carries too much</a:t>
            </a:r>
            <a:endParaRPr b="0" i="0" sz="32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228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biggest leak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600 applicants quit at the Annual Revenue question (Stage 2) — the single biggest drop-off, and the first sensitive money question we ask.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31821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is also the eligibility gate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Supernova declines firms over $2M revenue — but only at the very end. About 35% of everyone who completes the form is then rejected for being too big.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135600" y="1490700"/>
            <a:ext cx="2779800" cy="34242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Two jobs, one question</a:t>
            </a:r>
            <a:endParaRPr b="1" i="0" sz="16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Reducing friction means asking revenue later; filtering ineligible firms means asking first. One late question cannot do both — so split it.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the leak is worth</a:t>
            </a:r>
            <a:endParaRPr b="0" i="0" sz="32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554480"/>
            <a:ext cx="4480560" cy="26760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</p:spPr>
      </p:pic>
      <p:sp>
        <p:nvSpPr>
          <p:cNvPr id="124" name="Google Shape;124;p9"/>
          <p:cNvSpPr txBox="1"/>
          <p:nvPr/>
        </p:nvSpPr>
        <p:spPr>
          <a:xfrm>
            <a:off x="4892040" y="1554480"/>
            <a:ext cx="38862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Inter"/>
                <a:ea typeface="Inter"/>
                <a:cs typeface="Inter"/>
                <a:sym typeface="Inter"/>
              </a:rPr>
              <a:t xml:space="preserve"> ~$30.9M is abandoned in the funnel. </a:t>
            </a: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That is more potential premium than the $23.1M the book captures today — which makes the funnel the single biggest lever in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